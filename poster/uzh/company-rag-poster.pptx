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7"/>
  </p:notesMasterIdLst>
  <p:handoutMasterIdLst>
    <p:handoutMasterId r:id="rId8"/>
  </p:handoutMasterIdLst>
  <p:sldIdLst>
    <p:sldId id="256" r:id="rId5"/>
  </p:sldIdLst>
  <p:sldSz cx="30275213" cy="42803763"/>
  <p:notesSz cx="6858000" cy="9144000"/>
  <p:defaultTextStyle>
    <a:defPPr>
      <a:defRPr lang="de-DE"/>
    </a:defPPr>
    <a:lvl1pPr marL="0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1pPr>
    <a:lvl2pPr marL="1693286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2pPr>
    <a:lvl3pPr marL="3386572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3pPr>
    <a:lvl4pPr marL="5079858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4pPr>
    <a:lvl5pPr marL="6773144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5pPr>
    <a:lvl6pPr marL="8466430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6pPr>
    <a:lvl7pPr marL="10159716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7pPr>
    <a:lvl8pPr marL="11853001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8pPr>
    <a:lvl9pPr marL="13546287" algn="l" defTabSz="3386572" rtl="0" eaLnBrk="1" latinLnBrk="0" hangingPunct="1">
      <a:defRPr sz="666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4668" autoAdjust="0"/>
  </p:normalViewPr>
  <p:slideViewPr>
    <p:cSldViewPr showGuides="1">
      <p:cViewPr varScale="1">
        <p:scale>
          <a:sx n="18" d="100"/>
          <a:sy n="18" d="100"/>
        </p:scale>
        <p:origin x="303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17.04.2024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2438400" y="900113"/>
            <a:ext cx="2212975" cy="3127375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17.04.2024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386572" rtl="0" eaLnBrk="1" latinLnBrk="0" hangingPunct="1">
      <a:spcAft>
        <a:spcPts val="2222"/>
      </a:spcAft>
      <a:defRPr sz="4074" kern="1200">
        <a:solidFill>
          <a:schemeClr val="tx1"/>
        </a:solidFill>
        <a:latin typeface="+mn-lt"/>
        <a:ea typeface="+mn-ea"/>
        <a:cs typeface="+mn-cs"/>
      </a:defRPr>
    </a:lvl1pPr>
    <a:lvl2pPr marL="658500" indent="-658500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2pPr>
    <a:lvl3pPr marL="1322881" indent="-664381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3pPr>
    <a:lvl4pPr marL="1981382" indent="-658500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4pPr>
    <a:lvl5pPr marL="2669277" indent="-687899" algn="l" defTabSz="3386572" rtl="0" eaLnBrk="1" latinLnBrk="0" hangingPunct="1">
      <a:spcAft>
        <a:spcPts val="2222"/>
      </a:spcAft>
      <a:buFont typeface="Arial" panose="020B0604020202020204" pitchFamily="34" charset="0"/>
      <a:buChar char="‒"/>
      <a:defRPr sz="4074" kern="1200">
        <a:solidFill>
          <a:schemeClr val="tx1"/>
        </a:solidFill>
        <a:latin typeface="+mn-lt"/>
        <a:ea typeface="+mn-ea"/>
        <a:cs typeface="+mn-cs"/>
      </a:defRPr>
    </a:lvl5pPr>
    <a:lvl6pPr marL="8466430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6pPr>
    <a:lvl7pPr marL="10159716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7pPr>
    <a:lvl8pPr marL="11853001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8pPr>
    <a:lvl9pPr marL="13546287" algn="l" defTabSz="3386572" rtl="0" eaLnBrk="1" latinLnBrk="0" hangingPunct="1">
      <a:defRPr sz="44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arian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6852AA74-A0F0-BDFF-7367-2080B5116D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46749" y="4168775"/>
            <a:ext cx="28205162" cy="1703863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" y="5220000"/>
            <a:ext cx="18973799" cy="7344000"/>
          </a:xfrm>
          <a:solidFill>
            <a:schemeClr val="bg1"/>
          </a:solidFill>
        </p:spPr>
        <p:txBody>
          <a:bodyPr tIns="1044000"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044575" y="22193250"/>
            <a:ext cx="8928000" cy="8067153"/>
          </a:xfrm>
        </p:spPr>
        <p:txBody>
          <a:bodyPr/>
          <a:lstStyle>
            <a:lvl1pPr>
              <a:lnSpc>
                <a:spcPct val="97000"/>
              </a:lnSpc>
              <a:defRPr sz="4800" b="1"/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CH" dirty="0"/>
              <a:t>Lead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1693CD7-3D0E-FD30-BD0F-0010CED525B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680006" y="22193250"/>
            <a:ext cx="8928000" cy="8067153"/>
          </a:xfrm>
        </p:spPr>
        <p:txBody>
          <a:bodyPr/>
          <a:lstStyle>
            <a:lvl1pPr>
              <a:defRPr sz="3000" b="0"/>
            </a:lvl1pPr>
            <a:lvl2pPr>
              <a:defRPr sz="3000" b="0"/>
            </a:lvl2pPr>
            <a:lvl3pPr>
              <a:defRPr sz="3000" b="0"/>
            </a:lvl3pPr>
            <a:lvl4pPr>
              <a:defRPr sz="3000" b="0"/>
            </a:lvl4pPr>
            <a:lvl5pPr>
              <a:defRPr sz="3000" b="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088E9CE-50CC-694E-8019-87032A61CF8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323911" y="22193250"/>
            <a:ext cx="8928000" cy="17175163"/>
          </a:xfrm>
        </p:spPr>
        <p:txBody>
          <a:bodyPr/>
          <a:lstStyle>
            <a:lvl1pPr>
              <a:defRPr sz="3000" b="0"/>
            </a:lvl1pPr>
            <a:lvl2pPr>
              <a:defRPr sz="3000" b="0"/>
            </a:lvl2pPr>
            <a:lvl3pPr>
              <a:defRPr sz="3000" b="0"/>
            </a:lvl3pPr>
            <a:lvl4pPr>
              <a:defRPr sz="3000" b="0"/>
            </a:lvl4pPr>
            <a:lvl5pPr>
              <a:defRPr sz="3000" b="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66D5A53-C690-790A-8E39-CBCD85154C6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0685727" y="31295149"/>
            <a:ext cx="8928000" cy="8067153"/>
          </a:xfrm>
        </p:spPr>
        <p:txBody>
          <a:bodyPr/>
          <a:lstStyle>
            <a:lvl1pPr>
              <a:defRPr sz="3000" b="0"/>
            </a:lvl1pPr>
            <a:lvl2pPr>
              <a:defRPr sz="3000" b="0"/>
            </a:lvl2pPr>
            <a:lvl3pPr>
              <a:defRPr sz="3000" b="0"/>
            </a:lvl3pPr>
            <a:lvl4pPr>
              <a:defRPr sz="3000" b="0"/>
            </a:lvl4pPr>
            <a:lvl5pPr>
              <a:defRPr sz="3000" b="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4316A0CA-1070-C267-CDE8-E9B66A160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749" y="31295148"/>
            <a:ext cx="8925926" cy="807326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6D5BC5F-634A-B955-B077-C060113FE0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88799" y="1044575"/>
            <a:ext cx="19843425" cy="2143503"/>
          </a:xfrm>
        </p:spPr>
        <p:txBody>
          <a:bodyPr anchor="ctr"/>
          <a:lstStyle>
            <a:lvl1pPr>
              <a:defRPr sz="5000" b="0">
                <a:latin typeface="Source Sans Pro SemiBold" panose="020B0603030403020204" pitchFamily="34" charset="0"/>
              </a:defRPr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DE" dirty="0"/>
              <a:t>Organisationseinheit</a:t>
            </a:r>
            <a:endParaRPr lang="de-CH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7B0CA8-9E5C-66D3-BC1B-2114BF935F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4574" y="10414001"/>
            <a:ext cx="17929225" cy="2150000"/>
          </a:xfrm>
        </p:spPr>
        <p:txBody>
          <a:bodyPr/>
          <a:lstStyle>
            <a:lvl1pPr>
              <a:defRPr sz="9400"/>
            </a:lvl1pPr>
            <a:lvl2pPr>
              <a:defRPr sz="7500"/>
            </a:lvl2pPr>
            <a:lvl3pPr>
              <a:defRPr sz="7500"/>
            </a:lvl3pPr>
            <a:lvl4pPr>
              <a:defRPr sz="7500"/>
            </a:lvl4pPr>
            <a:lvl5pPr>
              <a:defRPr sz="7500"/>
            </a:lvl5pPr>
          </a:lstStyle>
          <a:p>
            <a:pPr lvl="0"/>
            <a:r>
              <a:rPr lang="de-DE" dirty="0"/>
              <a:t>Untertitel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68" userDrawn="1">
          <p15:clr>
            <a:srgbClr val="A4A3A4"/>
          </p15:clr>
        </p15:guide>
        <p15:guide id="2" orient="horz" pos="24799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arian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" y="4168776"/>
            <a:ext cx="29232224" cy="506375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044575" y="20556000"/>
            <a:ext cx="8928000" cy="10028902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EDCB7FF-4CD7-6529-A6C4-0B6B7BFA11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8000" y="9486900"/>
            <a:ext cx="18583910" cy="1012845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BCFB5D3-945B-31AB-BB3F-4B54C081F4B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045523" y="9486900"/>
            <a:ext cx="8928000" cy="10128455"/>
          </a:xfrm>
        </p:spPr>
        <p:txBody>
          <a:bodyPr/>
          <a:lstStyle>
            <a:lvl1pPr>
              <a:lnSpc>
                <a:spcPct val="97000"/>
              </a:lnSpc>
              <a:defRPr sz="4800" b="1"/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CH" dirty="0"/>
              <a:t>Lead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6BC2BC-A0BC-A013-FB3B-38D4E5369A4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0664925" y="20556000"/>
            <a:ext cx="8928000" cy="14617623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7018D6E1-DBC7-C9C5-49C1-B1F70151FC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44576" y="31760493"/>
            <a:ext cx="8928100" cy="1002890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endParaRPr lang="de-CH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5A2883F-C3AD-5D49-7582-B0C016304434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20313922" y="20556000"/>
            <a:ext cx="8928000" cy="21020744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986FEF4E-2068-8AA2-E68D-13743D441F1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656285" y="35335428"/>
            <a:ext cx="8928000" cy="6403122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  <a:lvl2pPr>
              <a:lnSpc>
                <a:spcPct val="97000"/>
              </a:lnSpc>
              <a:defRPr/>
            </a:lvl2pPr>
            <a:lvl3pPr>
              <a:lnSpc>
                <a:spcPct val="97000"/>
              </a:lnSpc>
              <a:defRPr/>
            </a:lvl3pPr>
            <a:lvl4pPr>
              <a:lnSpc>
                <a:spcPct val="97000"/>
              </a:lnSpc>
              <a:defRPr/>
            </a:lvl4pPr>
            <a:lvl5pPr>
              <a:lnSpc>
                <a:spcPct val="97000"/>
              </a:lnSpc>
              <a:defRPr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AE2E7A2B-2B78-6E28-F451-1FB2741A65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88800" y="1044575"/>
            <a:ext cx="19863110" cy="2143503"/>
          </a:xfrm>
        </p:spPr>
        <p:txBody>
          <a:bodyPr anchor="ctr"/>
          <a:lstStyle>
            <a:lvl1pPr>
              <a:defRPr sz="5000" b="0">
                <a:latin typeface="Source Sans Pro SemiBold" panose="020B0603030403020204" pitchFamily="34" charset="0"/>
              </a:defRPr>
            </a:lvl1pPr>
            <a:lvl2pPr>
              <a:defRPr sz="4800" b="1"/>
            </a:lvl2pPr>
            <a:lvl3pPr>
              <a:defRPr sz="4800" b="1"/>
            </a:lvl3pPr>
            <a:lvl4pPr>
              <a:defRPr sz="4800" b="1"/>
            </a:lvl4pPr>
            <a:lvl5pPr>
              <a:defRPr sz="4800" b="1"/>
            </a:lvl5pPr>
          </a:lstStyle>
          <a:p>
            <a:pPr lvl="0"/>
            <a:r>
              <a:rPr lang="de-DE" dirty="0"/>
              <a:t>Organisationseinheit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2194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65" userDrawn="1">
          <p15:clr>
            <a:srgbClr val="A4A3A4"/>
          </p15:clr>
        </p15:guide>
        <p15:guide id="2" orient="horz" pos="5975" userDrawn="1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" y="5220000"/>
            <a:ext cx="29232224" cy="7344000"/>
          </a:xfrm>
          <a:prstGeom prst="rect">
            <a:avLst/>
          </a:prstGeom>
        </p:spPr>
        <p:txBody>
          <a:bodyPr vert="horz" lIns="1044000" tIns="1044000" rIns="0" bIns="0" rtlCol="0" anchor="t">
            <a:noAutofit/>
          </a:bodyPr>
          <a:lstStyle/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4575" y="22193250"/>
            <a:ext cx="8928000" cy="16359863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/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24998167" y="37242375"/>
            <a:ext cx="1094612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dirty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7AF8399-BFBA-3A8A-0D20-A6D963D1E0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028700"/>
            <a:ext cx="6193803" cy="2145600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D4EFC67-5734-42EC-1566-F85AE0719990}"/>
              </a:ext>
            </a:extLst>
          </p:cNvPr>
          <p:cNvCxnSpPr/>
          <p:nvPr userDrawn="1"/>
        </p:nvCxnSpPr>
        <p:spPr>
          <a:xfrm>
            <a:off x="8309671" y="1047250"/>
            <a:ext cx="0" cy="210352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15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58" userDrawn="1">
          <p15:clr>
            <a:srgbClr val="A4A3A4"/>
          </p15:clr>
        </p15:guide>
        <p15:guide id="2" pos="18414" userDrawn="1">
          <p15:clr>
            <a:srgbClr val="A4A3A4"/>
          </p15:clr>
        </p15:guide>
        <p15:guide id="3" orient="horz" pos="26292" userDrawn="1">
          <p15:clr>
            <a:srgbClr val="A4A3A4"/>
          </p15:clr>
        </p15:guide>
        <p15:guide id="4" orient="horz" pos="658" userDrawn="1">
          <p15:clr>
            <a:srgbClr val="A4A3A4"/>
          </p15:clr>
        </p15:guide>
        <p15:guide id="5" pos="6720" userDrawn="1">
          <p15:clr>
            <a:srgbClr val="A4A3A4"/>
          </p15:clr>
        </p15:guide>
        <p15:guide id="6" pos="12342" userDrawn="1">
          <p15:clr>
            <a:srgbClr val="A4A3A4"/>
          </p15:clr>
        </p15:guide>
        <p15:guide id="7" pos="12798" userDrawn="1">
          <p15:clr>
            <a:srgbClr val="A4A3A4"/>
          </p15:clr>
        </p15:guide>
        <p15:guide id="8" pos="6282" userDrawn="1">
          <p15:clr>
            <a:srgbClr val="A4A3A4"/>
          </p15:clr>
        </p15:guide>
        <p15:guide id="10" orient="horz" pos="2626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hero_cropp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000" y="4176000"/>
            <a:ext cx="28224000" cy="11664000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7FB41146-55F7-5706-6805-5D9E0D8A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00" y="5040000"/>
            <a:ext cx="17928000" cy="6480000"/>
          </a:xfrm>
        </p:spPr>
        <p:txBody>
          <a:bodyPr tIns="288000" bIns="288000" lIns="540000" rIns="540000" anchor="ctr"/>
          <a:lstStyle/>
          <a:p>
            <a:r>
              <a:t>Skills turn a generic RAG into a workflow agent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BB802D-3411-52AB-93CF-424AFEED3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000" y="16560000"/>
            <a:ext cx="8928000" cy="5040000"/>
          </a:xfrm>
        </p:spPr>
        <p:txBody>
          <a:bodyPr/>
          <a:lstStyle/>
          <a:p>
            <a:pPr>
              <a:lnSpc>
                <a:spcPct val="97000"/>
              </a:lnSpc>
            </a:pPr>
            <a:r>
              <a:rPr sz="4800" b="1"/>
              <a:t>With multi-query retrieval, tuned weights and cross-encoder reranking, the correct document is the top result in 73% of 377 answerable test questions, up from 63% for the published baseline. Fact recall jumped from 42% to 52% after fixing Qwen3's thinking-token suppression.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498C715-B88B-53C5-2BB6-ED483F78561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692000" y="16560000"/>
            <a:ext cx="8928000" cy="12780000"/>
          </a:xfrm>
        </p:spPr>
        <p:txBody>
          <a:bodyPr/>
          <a:lstStyle/>
          <a:p>
            <a:pPr>
              <a:lnSpc>
                <a:spcPct val="97000"/>
              </a:lnSpc>
              <a:spcAft>
                <a:spcPts val="3000"/>
              </a:spcAft>
            </a:pPr>
            <a:r>
              <a:rPr b="1" sz="3200"/>
              <a:t>The problem</a:t>
            </a:r>
          </a:p>
          <a:p>
            <a:r>
              <a:t/>
            </a:r>
          </a:p>
          <a:p>
            <a:r>
              <a:t>Search returns documents. Users still have to read, summarise, and trace.</a:t>
            </a:r>
          </a:p>
          <a:p>
            <a:r>
              <a:t/>
            </a:r>
          </a:p>
          <a:p>
            <a:r>
              <a:rPr b="1" sz="3200"/>
              <a:t>The fix</a:t>
            </a:r>
          </a:p>
          <a:p>
            <a:r>
              <a:t/>
            </a:r>
          </a:p>
          <a:p>
            <a:r>
              <a:t>Three skill buttons prepend a prompt that shapes the output: a timeline, a decision, or an onboarding brief. Same retriever, structured answer.</a:t>
            </a:r>
          </a:p>
          <a:p>
            <a:r>
              <a:t/>
            </a:r>
          </a:p>
          <a:p>
            <a:r>
              <a:t>Sources: Slack, Gmail, Confluence, Jira, Linear, HubSpot, Google Drive, GitHub, Fireflies.</a:t>
            </a:r>
          </a:p>
          <a:p>
            <a:r>
              <a:t/>
            </a:r>
          </a:p>
          <a:p>
            <a:r>
              <a:rPr b="1" sz="3200"/>
              <a:t>TRACE</a:t>
            </a:r>
          </a:p>
          <a:p>
            <a:r>
              <a:t>Dated timeline of an event in chronological order. Every line cites the document it came from.</a:t>
            </a:r>
          </a:p>
          <a:p>
            <a:r>
              <a:t/>
            </a:r>
          </a:p>
          <a:p>
            <a:r>
              <a:rPr b="1" sz="3200"/>
              <a:t>DECIDE</a:t>
            </a:r>
          </a:p>
          <a:p>
            <a:r>
              <a:t>Final call quoted word-for-word. Who decided it, when, and which document the decision lives in.</a:t>
            </a:r>
          </a:p>
          <a:p>
            <a:r>
              <a:t/>
            </a:r>
          </a:p>
          <a:p>
            <a:r>
              <a:rPr b="1" sz="3200"/>
              <a:t>ONBOARD</a:t>
            </a:r>
          </a:p>
          <a:p>
            <a:r>
              <a:t>Five-section brief: what it is, goal, status, key people, open issues.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D533D06-636C-122A-8E6A-E8CAC101127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0692000" y="29700000"/>
            <a:ext cx="8928000" cy="7920000"/>
          </a:xfrm>
        </p:spPr>
        <p:txBody>
          <a:bodyPr/>
          <a:lstStyle/>
          <a:p>
            <a:r>
              <a:rPr b="1" sz="3200"/>
              <a:t>Methodology highlights</a:t>
            </a:r>
          </a:p>
          <a:p>
            <a:r>
              <a:t/>
            </a:r>
          </a:p>
          <a:p>
            <a:r>
              <a:t>• Tuned fusion weights 0.7 / 0.3 → 0.3 / 0.7. R@1 jumped from 0.63 to 0.74.</a:t>
            </a:r>
          </a:p>
          <a:p>
            <a:r>
              <a:t>• Added multi-query retrieval: long questions are also embedded as key-terms-only to recover dilution-affected docs.</a:t>
            </a:r>
          </a:p>
          <a:p>
            <a:r>
              <a:t>• Fixed Qwen3 thinking-token suppression (think:false). Fact recall: 0.42 → 0.52.</a:t>
            </a:r>
          </a:p>
          <a:p>
            <a:r>
              <a:t>• Filtered eval to the 377 questions whose answer docs live in the index.</a:t>
            </a:r>
          </a:p>
          <a:p>
            <a:r>
              <a:t/>
            </a:r>
          </a:p>
          <a:p>
            <a:r>
              <a:rPr b="1" sz="3200"/>
              <a:t>Why hand-rolled?</a:t>
            </a:r>
          </a:p>
          <a:p>
            <a:r>
              <a:t/>
            </a:r>
          </a:p>
          <a:p>
            <a:r>
              <a:t>No LangChain or LlamaIndex by design. Writing every piece — fusion, reranker, skills — is how we found 0.3 / 0.7 weights beat the published 0.7 / 0.3, and how we caught the Qwen3 think-suppression bug.</a:t>
            </a:r>
          </a:p>
          <a:p>
            <a:r>
              <a:t/>
            </a:r>
          </a:p>
          <a:p>
            <a:r>
              <a:t>Stack: Qwen3-8B · nomic-embed-text · SQLite FTS5 · ms-marco-MiniLM-L-6-v2 · TypeScript agent.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0688438-869B-4796-C39C-BA7BA342CA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UZH FS2026 — Retrieval-Augmented Generation course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3F29A6C-6AE5-BE83-1C8D-8E167FC5C8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4000" y="11700000"/>
            <a:ext cx="17928000" cy="2520000"/>
          </a:xfrm>
          <a:solidFill>
            <a:srgbClr val="FFFFFF"/>
          </a:solidFill>
        </p:spPr>
        <p:txBody>
          <a:bodyPr wrap="square" tIns="216000" bIns="216000" lIns="288000" rIns="288000" anchor="ctr"/>
          <a:lstStyle/>
          <a:p>
            <a:pPr algn="ctr"/>
            <a:r>
              <a:rPr sz="4400">
                <a:solidFill>
                  <a:srgbClr val="000000"/>
                </a:solidFill>
              </a:rPr>
              <a:t>Cross-encoder reranking and three workflow skills, over a 10,000-document corporate corpus. Hand-rolled, no frameworks.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946DD0CD-462E-A096-C81F-313D9EC79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28" y="40469749"/>
            <a:ext cx="3778135" cy="1305098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6554089E-D834-0E08-1228-43A34D5CA6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330" y="40456449"/>
            <a:ext cx="1845425" cy="1296785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020F32B-9524-B628-2FF7-82119D2D48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23" y="40466958"/>
            <a:ext cx="1221971" cy="1305098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CC956182-A9E6-B03B-8F45-64D98AF790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7062" y="40466958"/>
            <a:ext cx="1325880" cy="1309255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FA6BB51-BAD0-27EF-410C-F12E4E3E7AD9}"/>
              </a:ext>
            </a:extLst>
          </p:cNvPr>
          <p:cNvCxnSpPr>
            <a:cxnSpLocks/>
          </p:cNvCxnSpPr>
          <p:nvPr/>
        </p:nvCxnSpPr>
        <p:spPr>
          <a:xfrm>
            <a:off x="5776566" y="40459338"/>
            <a:ext cx="0" cy="1305098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E861E98-20AD-DDCD-0F75-B37171922AEF}"/>
              </a:ext>
            </a:extLst>
          </p:cNvPr>
          <p:cNvCxnSpPr>
            <a:cxnSpLocks/>
          </p:cNvCxnSpPr>
          <p:nvPr/>
        </p:nvCxnSpPr>
        <p:spPr>
          <a:xfrm>
            <a:off x="9485692" y="40459338"/>
            <a:ext cx="0" cy="1305098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B565CF3-2F02-FA1C-5164-236CA9C73A83}"/>
              </a:ext>
            </a:extLst>
          </p:cNvPr>
          <p:cNvCxnSpPr>
            <a:cxnSpLocks/>
          </p:cNvCxnSpPr>
          <p:nvPr/>
        </p:nvCxnSpPr>
        <p:spPr>
          <a:xfrm>
            <a:off x="12575798" y="40459338"/>
            <a:ext cx="0" cy="1305098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304000" y="1656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8A5"/>
                </a:solidFill>
                <a:latin typeface="Source Sans Pro"/>
              </a:rPr>
              <a:t>Results — retrieval ablation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04000" y="17496000"/>
            <a:ext cx="8928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444444"/>
                </a:solidFill>
                <a:latin typeface="Source Sans Pro"/>
              </a:rPr>
              <a:t>377 answerable questions. Multi-query retrieval enabled. Same pool, varied retrieval stage.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20304000" y="18720000"/>
          <a:ext cx="89280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00"/>
                <a:gridCol w="2232000"/>
                <a:gridCol w="2232000"/>
                <a:gridCol w="2232000"/>
              </a:tblGrid>
              <a:tr h="528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ource Sans Pro"/>
                        </a:rPr>
                        <a:t>Variant</a:t>
                      </a:r>
                    </a:p>
                  </a:txBody>
                  <a:tcPr marL="72000" marR="72000" marT="36000" marB="36000">
                    <a:solidFill>
                      <a:srgbClr val="0028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Source Sans Pro"/>
                        </a:rPr>
                        <a:t>R@1</a:t>
                      </a:r>
                    </a:p>
                  </a:txBody>
                  <a:tcPr marL="72000" marR="72000" marT="36000" marB="36000">
                    <a:solidFill>
                      <a:srgbClr val="0028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Source Sans Pro"/>
                        </a:rPr>
                        <a:t>R@5</a:t>
                      </a:r>
                    </a:p>
                  </a:txBody>
                  <a:tcPr marL="72000" marR="72000" marT="36000" marB="36000">
                    <a:solidFill>
                      <a:srgbClr val="0028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Source Sans Pro"/>
                        </a:rPr>
                        <a:t>R@10</a:t>
                      </a:r>
                    </a:p>
                  </a:txBody>
                  <a:tcPr marL="72000" marR="72000" marT="36000" marB="36000">
                    <a:solidFill>
                      <a:srgbClr val="0028A5"/>
                    </a:solidFill>
                  </a:tcPr>
                </a:tc>
              </a:tr>
              <a:tr h="528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BM25 only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0.716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28A5"/>
                          </a:solidFill>
                          <a:latin typeface="Source Sans Pro"/>
                        </a:rPr>
                        <a:t>0.883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28A5"/>
                          </a:solidFill>
                          <a:latin typeface="Source Sans Pro"/>
                        </a:rPr>
                        <a:t>0.915</a:t>
                      </a:r>
                    </a:p>
                  </a:txBody>
                  <a:tcPr marL="72000" marR="72000" marT="36000" marB="36000"/>
                </a:tc>
              </a:tr>
              <a:tr h="528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Dense only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0.411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0.549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0.629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</a:tr>
              <a:tr h="528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Hybrid 0.7/0.3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0.631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0.687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0.698</a:t>
                      </a:r>
                    </a:p>
                  </a:txBody>
                  <a:tcPr marL="72000" marR="72000" marT="36000" marB="36000"/>
                </a:tc>
              </a:tr>
              <a:tr h="528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Hybrid 0.3/0.7 (tuned)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28A5"/>
                          </a:solidFill>
                          <a:latin typeface="Source Sans Pro"/>
                        </a:rPr>
                        <a:t>0.743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0.854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0.859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</a:tr>
              <a:tr h="528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+ Cross-encoder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0.732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0.865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0.899</a:t>
                      </a:r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20304000" y="22176000"/>
            <a:ext cx="8928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444444"/>
                </a:solidFill>
                <a:latin typeface="Source Sans Pro"/>
              </a:rPr>
              <a:t>Re-tuned 0.3 / 0.7 weights win at R@1. BM25 alone still wins R@10. Cross-encoder is the deployed safety net.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04000" y="2340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8A5"/>
                </a:solidFill>
                <a:latin typeface="Source Sans Pro"/>
              </a:rPr>
              <a:t>End-to-end answer quality  (n=50, seed=42)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0304000" y="24336000"/>
          <a:ext cx="8928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000"/>
                <a:gridCol w="2976000"/>
                <a:gridCol w="2976000"/>
              </a:tblGrid>
              <a:tr h="58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ource Sans Pro"/>
                        </a:rPr>
                        <a:t>Metric</a:t>
                      </a:r>
                    </a:p>
                  </a:txBody>
                  <a:tcPr marL="72000" marR="72000" marT="36000" marB="36000">
                    <a:solidFill>
                      <a:srgbClr val="0028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Source Sans Pro"/>
                        </a:rPr>
                        <a:t>Fusion</a:t>
                      </a:r>
                    </a:p>
                  </a:txBody>
                  <a:tcPr marL="72000" marR="72000" marT="36000" marB="36000">
                    <a:solidFill>
                      <a:srgbClr val="0028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Source Sans Pro"/>
                        </a:rPr>
                        <a:t>+Rerank</a:t>
                      </a:r>
                    </a:p>
                  </a:txBody>
                  <a:tcPr marL="72000" marR="72000" marT="36000" marB="36000">
                    <a:solidFill>
                      <a:srgbClr val="0028A5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Hit@1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0.640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28A5"/>
                          </a:solidFill>
                          <a:latin typeface="Source Sans Pro"/>
                        </a:rPr>
                        <a:t>0.680</a:t>
                      </a:r>
                    </a:p>
                  </a:txBody>
                  <a:tcPr marL="72000" marR="72000" marT="36000" marB="36000"/>
                </a:tc>
              </a:tr>
              <a:tr h="585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Hit@6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0.740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28A5"/>
                          </a:solidFill>
                          <a:latin typeface="Source Sans Pro"/>
                        </a:rPr>
                        <a:t>0.880</a:t>
                      </a:r>
                    </a:p>
                  </a:txBody>
                  <a:tcPr marL="72000" marR="72000" marT="36000" marB="36000">
                    <a:solidFill>
                      <a:srgbClr val="F4F4F0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r>
                        <a:rPr sz="2000">
                          <a:latin typeface="Source Sans Pro"/>
                        </a:rPr>
                        <a:t>Fact recall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>
                          <a:latin typeface="Source Sans Pro"/>
                        </a:rPr>
                        <a:t>0.400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28A5"/>
                          </a:solidFill>
                          <a:latin typeface="Source Sans Pro"/>
                        </a:rPr>
                        <a:t>0.520</a:t>
                      </a:r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20304000" y="26964000"/>
            <a:ext cx="8928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444444"/>
                </a:solidFill>
                <a:latin typeface="Source Sans Pro"/>
              </a:rPr>
              <a:t>After fixing Qwen3 thinking suppression (think:false), the reranker now lifts fact recall by 12 pp instead of hurting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304000" y="28188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8A5"/>
                </a:solidFill>
                <a:latin typeface="Source Sans Pro"/>
              </a:rPr>
              <a:t>Demo reliability across 30 runs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304000" y="29124000"/>
            <a:ext cx="89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A5"/>
                </a:solidFill>
                <a:latin typeface="Source Sans Pro"/>
              </a:rPr>
              <a:t>30 of 30 demo runs found every expected document.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04000" y="30060000"/>
            <a:ext cx="89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A5"/>
                </a:solidFill>
                <a:latin typeface="Source Sans Pro"/>
              </a:rPr>
              <a:t>Try these at the laptop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04000" y="30924000"/>
            <a:ext cx="8928000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222222"/>
                </a:solidFill>
                <a:latin typeface="Source Sans Pro"/>
              </a:rPr>
              <a:t>• TRACE — "the office aquarium leak"
• DECIDE — "the gocritic linter rule"
• ONBOARD — "Verbier Q4 ski retreat"</a:t>
            </a:r>
          </a:p>
        </p:txBody>
      </p:sp>
      <p:pic>
        <p:nvPicPr>
          <p:cNvPr id="47" name="Picture 46" descr="architec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000" y="21960000"/>
            <a:ext cx="8928000" cy="7200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4000" y="29520000"/>
            <a:ext cx="89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A1A1A"/>
                </a:solidFill>
                <a:latin typeface="Source Sans Pro"/>
              </a:rPr>
              <a:t>BM25 + dense embeddings fused 30 / 70. Cross-encoder re-scores the top-32 candidates.</a:t>
            </a:r>
          </a:p>
        </p:txBody>
      </p:sp>
      <p:pic>
        <p:nvPicPr>
          <p:cNvPr id="49" name="Picture 48" descr="ablation_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000" y="31680000"/>
            <a:ext cx="8928000" cy="676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0304000" y="36360000"/>
            <a:ext cx="89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28A5"/>
                </a:solidFill>
                <a:latin typeface="Source Sans Pro"/>
              </a:rPr>
              <a:t>Scan to try the live demo  →</a:t>
            </a:r>
          </a:p>
        </p:txBody>
      </p:sp>
      <p:pic>
        <p:nvPicPr>
          <p:cNvPr id="51" name="Picture 50" descr="q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508000" y="37008000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15954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Wissenschaftliche Poster A0 hoch UHZ EN V2.potx" id="{C4DE2F16-672D-49A6-8800-072FD1A0784E}" vid="{3343231B-2B18-4A43-BE13-F459ADF0BA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9077d15-72ed-4fec-bcfe-3472729e9195"/>
    <ds:schemaRef ds:uri="http://purl.org/dc/dcmitype/"/>
    <ds:schemaRef ds:uri="bc24777f-78b6-4f3c-a73a-d5fa08e4d5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3422E8-BE23-448C-AEDE-E777A2A572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1087</Words>
  <Application>Microsoft Office PowerPoint</Application>
  <PresentationFormat>Benutzerdefiniert</PresentationFormat>
  <Paragraphs>199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Source Sans Pro</vt:lpstr>
      <vt:lpstr>Source Sans Pro SemiBold</vt:lpstr>
      <vt:lpstr>Symbol</vt:lpstr>
      <vt:lpstr>Benutzerdefiniertes Design</vt:lpstr>
      <vt:lpstr>Title 2nd line  </vt:lpstr>
      <vt:lpstr>Title 2nd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Checkliste PPT-Vorlagen</dc:title>
  <dc:creator/>
  <dc:description>erstellt durch Vorlagenbauer.ch</dc:description>
  <cp:lastModifiedBy>Michael Drechsel</cp:lastModifiedBy>
  <cp:revision>115</cp:revision>
  <dcterms:created xsi:type="dcterms:W3CDTF">2020-11-02T11:40:46Z</dcterms:created>
  <dcterms:modified xsi:type="dcterms:W3CDTF">2024-04-17T11:03:32Z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